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  <p:embeddedFont>
      <p:font typeface="Montserrat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  <p:embeddedFont>
      <p:font typeface="Pacifico"/>
      <p:regular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22" Type="http://schemas.openxmlformats.org/officeDocument/2006/relationships/font" Target="fonts/Lato-bold.fntdata"/><Relationship Id="rId21" Type="http://schemas.openxmlformats.org/officeDocument/2006/relationships/font" Target="fonts/Lato-regular.fntdata"/><Relationship Id="rId24" Type="http://schemas.openxmlformats.org/officeDocument/2006/relationships/font" Target="fonts/Lato-boldItalic.fntdata"/><Relationship Id="rId23" Type="http://schemas.openxmlformats.org/officeDocument/2006/relationships/font" Target="fonts/La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Pacific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regular.fntdata"/><Relationship Id="rId12" Type="http://schemas.openxmlformats.org/officeDocument/2006/relationships/slide" Target="slides/slide7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7" Type="http://schemas.openxmlformats.org/officeDocument/2006/relationships/font" Target="fonts/Montserrat-regular.fntdata"/><Relationship Id="rId16" Type="http://schemas.openxmlformats.org/officeDocument/2006/relationships/font" Target="fonts/Roboto-boldItalic.fntdata"/><Relationship Id="rId19" Type="http://schemas.openxmlformats.org/officeDocument/2006/relationships/font" Target="fonts/Montserrat-italic.fntdata"/><Relationship Id="rId18" Type="http://schemas.openxmlformats.org/officeDocument/2006/relationships/font" Target="fonts/Montserra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c6f919934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c6f9199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c6f919934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c6f91993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048dad8e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d048dad8e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c6f919934_0_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c6f91993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c6f919934_0_5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c6f919934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048dad8e8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d048dad8e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d048dad8e8_0_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d048dad8e8_0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608000" y="13265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DevOps Automation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895025" y="3279305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Name: Pavithra 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Project: DevOps Automation Overview</a:t>
            </a:r>
            <a:endParaRPr/>
          </a:p>
        </p:txBody>
      </p:sp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What is DevOps?</a:t>
            </a:r>
            <a:endParaRPr i="1"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143675" y="144450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DevOps is a software development approach that combines </a:t>
            </a:r>
            <a:r>
              <a:rPr b="1" lang="en" sz="1400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development (Dev)</a:t>
            </a:r>
            <a:r>
              <a:rPr lang="en" sz="1400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" sz="1400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operations (Ops)</a:t>
            </a:r>
            <a:r>
              <a:rPr lang="en" sz="1400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 to improve collaboration and deliver software faster.</a:t>
            </a:r>
            <a:endParaRPr sz="1400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It focuses on:</a:t>
            </a:r>
            <a:endParaRPr sz="1400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FFFF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continuous integration</a:t>
            </a:r>
            <a:br>
              <a:rPr lang="en" sz="1400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continuous delivery</a:t>
            </a:r>
            <a:br>
              <a:rPr lang="en" sz="1400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faster deployment</a:t>
            </a:r>
            <a:br>
              <a:rPr lang="en" sz="1400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better system reliability</a:t>
            </a:r>
            <a:endParaRPr sz="1400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What is DevOps Automation?</a:t>
            </a:r>
            <a:endParaRPr i="1"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8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DevOps Automation means </a:t>
            </a:r>
            <a:r>
              <a:rPr b="1" lang="en" sz="1408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automating repetitive tasks in the software development lifecycle</a:t>
            </a:r>
            <a:r>
              <a:rPr lang="en" sz="1408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8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8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endParaRPr sz="1408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602" lvl="0" marL="457200" rtl="0" algn="l">
              <a:spcBef>
                <a:spcPts val="1200"/>
              </a:spcBef>
              <a:spcAft>
                <a:spcPts val="0"/>
              </a:spcAft>
              <a:buClr>
                <a:srgbClr val="00FFFF"/>
              </a:buClr>
              <a:buSzPct val="100000"/>
              <a:buFont typeface="Arial"/>
              <a:buChar char="●"/>
            </a:pPr>
            <a:r>
              <a:rPr lang="en" sz="1408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automated testing</a:t>
            </a:r>
            <a:br>
              <a:rPr lang="en" sz="1408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408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602" lvl="0" marL="457200" rtl="0" algn="l"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100000"/>
              <a:buFont typeface="Arial"/>
              <a:buChar char="●"/>
            </a:pPr>
            <a:r>
              <a:rPr lang="en" sz="1408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automated deployment</a:t>
            </a:r>
            <a:br>
              <a:rPr lang="en" sz="1408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408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602" lvl="0" marL="457200" rtl="0" algn="l"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100000"/>
              <a:buFont typeface="Arial"/>
              <a:buChar char="●"/>
            </a:pPr>
            <a:r>
              <a:rPr lang="en" sz="1408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automated builds</a:t>
            </a:r>
            <a:br>
              <a:rPr lang="en" sz="1408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408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602" lvl="0" marL="457200" rtl="0" algn="l"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100000"/>
              <a:buFont typeface="Arial"/>
              <a:buChar char="●"/>
            </a:pPr>
            <a:r>
              <a:rPr lang="en" sz="1408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automated monitoring</a:t>
            </a:r>
            <a:br>
              <a:rPr lang="en" sz="1408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408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8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Automation reduces human errors and improves efficiency.</a:t>
            </a:r>
            <a:endParaRPr sz="1408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4947575" y="1619775"/>
            <a:ext cx="4045200" cy="124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DevOps Lifecycle</a:t>
            </a:r>
            <a:endParaRPr/>
          </a:p>
        </p:txBody>
      </p:sp>
      <p:pic>
        <p:nvPicPr>
          <p:cNvPr id="153" name="Google Shape;15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725" y="149300"/>
            <a:ext cx="4539451" cy="4780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25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Popular DevOps tools include:</a:t>
            </a:r>
            <a:endParaRPr sz="1525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3686" lvl="0" marL="457200" rtl="0" algn="l">
              <a:spcBef>
                <a:spcPts val="1200"/>
              </a:spcBef>
              <a:spcAft>
                <a:spcPts val="0"/>
              </a:spcAft>
              <a:buClr>
                <a:srgbClr val="00FFFF"/>
              </a:buClr>
              <a:buSzPct val="100000"/>
              <a:buFont typeface="Arial"/>
              <a:buChar char="●"/>
            </a:pPr>
            <a:r>
              <a:rPr b="1" lang="en" sz="1525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r>
              <a:rPr lang="en" sz="1525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 – version control</a:t>
            </a:r>
            <a:br>
              <a:rPr lang="en" sz="1525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525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3686" lvl="0" marL="457200" rtl="0" algn="l"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100000"/>
              <a:buFont typeface="Arial"/>
              <a:buChar char="●"/>
            </a:pPr>
            <a:r>
              <a:rPr b="1" lang="en" sz="1525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Jenkins</a:t>
            </a:r>
            <a:r>
              <a:rPr lang="en" sz="1525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 – CI/CD automation</a:t>
            </a:r>
            <a:br>
              <a:rPr lang="en" sz="1525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525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3686" lvl="0" marL="457200" rtl="0" algn="l"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100000"/>
              <a:buFont typeface="Arial"/>
              <a:buChar char="●"/>
            </a:pPr>
            <a:r>
              <a:rPr b="1" lang="en" sz="1525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Docker</a:t>
            </a:r>
            <a:r>
              <a:rPr lang="en" sz="1525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 – containerization</a:t>
            </a:r>
            <a:br>
              <a:rPr lang="en" sz="1525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525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3686" lvl="0" marL="457200" rtl="0" algn="l"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100000"/>
              <a:buFont typeface="Arial"/>
              <a:buChar char="●"/>
            </a:pPr>
            <a:r>
              <a:rPr b="1" lang="en" sz="1525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Kubernetes</a:t>
            </a:r>
            <a:r>
              <a:rPr lang="en" sz="1525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 – container orchestration</a:t>
            </a:r>
            <a:br>
              <a:rPr lang="en" sz="1525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525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3686" lvl="0" marL="457200" rtl="0" algn="l"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100000"/>
              <a:buFont typeface="Arial"/>
              <a:buChar char="●"/>
            </a:pPr>
            <a:r>
              <a:rPr b="1" lang="en" sz="1525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GitHub Actions</a:t>
            </a:r>
            <a:r>
              <a:rPr lang="en" sz="1525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 – workflow automation</a:t>
            </a:r>
            <a:endParaRPr sz="1525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7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Benefits include:</a:t>
            </a:r>
            <a:endParaRPr sz="1300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rgbClr val="00FFFF"/>
              </a:buClr>
              <a:buSzPts val="1000"/>
              <a:buFont typeface="Arial"/>
              <a:buChar char="●"/>
            </a:pPr>
            <a:r>
              <a:rPr lang="en" sz="1300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faster software delivery</a:t>
            </a:r>
            <a:br>
              <a:rPr lang="en" sz="1300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ts val="1000"/>
              <a:buFont typeface="Arial"/>
              <a:buChar char="●"/>
            </a:pPr>
            <a:r>
              <a:rPr lang="en" sz="1300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improved collaboration</a:t>
            </a:r>
            <a:br>
              <a:rPr lang="en" sz="1300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ts val="1000"/>
              <a:buFont typeface="Arial"/>
              <a:buChar char="●"/>
            </a:pPr>
            <a:r>
              <a:rPr lang="en" sz="1300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reduced deployment errors</a:t>
            </a:r>
            <a:br>
              <a:rPr lang="en" sz="1300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ts val="1000"/>
              <a:buFont typeface="Arial"/>
              <a:buChar char="●"/>
            </a:pPr>
            <a:r>
              <a:rPr lang="en" sz="1300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continuous improvement</a:t>
            </a:r>
            <a:br>
              <a:rPr lang="en" sz="1300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ts val="1000"/>
              <a:buFont typeface="Arial"/>
              <a:buChar char="●"/>
            </a:pPr>
            <a:r>
              <a:rPr lang="en" sz="1300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better scalability</a:t>
            </a:r>
            <a:endParaRPr sz="1300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1137150" y="198575"/>
            <a:ext cx="9284100" cy="11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i="1" lang="en" sz="2700">
                <a:solidFill>
                  <a:schemeClr val="lt1"/>
                </a:solidFill>
              </a:rPr>
              <a:t>DevOps Tools</a:t>
            </a:r>
            <a:r>
              <a:rPr b="1" lang="en" sz="3500">
                <a:solidFill>
                  <a:schemeClr val="lt1"/>
                </a:solidFill>
              </a:rPr>
              <a:t>           </a:t>
            </a:r>
            <a:r>
              <a:rPr b="1" i="1" lang="en" sz="2400">
                <a:solidFill>
                  <a:schemeClr val="lt1"/>
                </a:solidFill>
              </a:rPr>
              <a:t>Benefits of DevOps </a:t>
            </a:r>
            <a:endParaRPr b="1" i="1" sz="2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i="1" lang="en" sz="2400">
                <a:solidFill>
                  <a:schemeClr val="lt1"/>
                </a:solidFill>
              </a:rPr>
              <a:t>                                                Automation</a:t>
            </a:r>
            <a:endParaRPr b="1" i="1" sz="2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</a:t>
            </a:r>
            <a:endParaRPr sz="21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100">
                <a:latin typeface="Arial"/>
                <a:ea typeface="Arial"/>
                <a:cs typeface="Arial"/>
                <a:sym typeface="Arial"/>
              </a:rPr>
              <a:t> Mind Map</a:t>
            </a:r>
            <a:endParaRPr i="1" sz="3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3802943" y="1450850"/>
            <a:ext cx="1538100" cy="442500"/>
          </a:xfrm>
          <a:prstGeom prst="roundRect">
            <a:avLst>
              <a:gd fmla="val 50000" name="adj"/>
            </a:avLst>
          </a:prstGeom>
          <a:solidFill>
            <a:srgbClr val="0942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DevOps Automation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5774440" y="2350501"/>
            <a:ext cx="1538100" cy="442500"/>
          </a:xfrm>
          <a:prstGeom prst="roundRect">
            <a:avLst>
              <a:gd fmla="val 50000" name="adj"/>
            </a:avLst>
          </a:prstGeom>
          <a:solidFill>
            <a:srgbClr val="0D5C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CI/CD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648322" y="2350501"/>
            <a:ext cx="1538100" cy="442500"/>
          </a:xfrm>
          <a:prstGeom prst="roundRect">
            <a:avLst>
              <a:gd fmla="val 50000" name="adj"/>
            </a:avLst>
          </a:prstGeom>
          <a:solidFill>
            <a:srgbClr val="0D5C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Tools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994675" y="3037325"/>
            <a:ext cx="845400" cy="442500"/>
          </a:xfrm>
          <a:prstGeom prst="roundRect">
            <a:avLst>
              <a:gd fmla="val 50000" name="adj"/>
            </a:avLst>
          </a:prstGeom>
          <a:solidFill>
            <a:srgbClr val="307A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Git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2384843" y="3037328"/>
            <a:ext cx="1538100" cy="442500"/>
          </a:xfrm>
          <a:prstGeom prst="roundRect">
            <a:avLst>
              <a:gd fmla="val 50000" name="adj"/>
            </a:avLst>
          </a:prstGeom>
          <a:solidFill>
            <a:srgbClr val="307A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Build 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4078075" y="3026453"/>
            <a:ext cx="1538100" cy="442500"/>
          </a:xfrm>
          <a:prstGeom prst="roundRect">
            <a:avLst>
              <a:gd fmla="val 50000" name="adj"/>
            </a:avLst>
          </a:prstGeom>
          <a:solidFill>
            <a:srgbClr val="307A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Faster Delivery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172" name="Google Shape;172;p18"/>
          <p:cNvCxnSpPr>
            <a:stCxn id="168" idx="0"/>
            <a:endCxn id="166" idx="2"/>
          </p:cNvCxnSpPr>
          <p:nvPr/>
        </p:nvCxnSpPr>
        <p:spPr>
          <a:xfrm rot="-5400000">
            <a:off x="2766022" y="544651"/>
            <a:ext cx="457200" cy="3154500"/>
          </a:xfrm>
          <a:prstGeom prst="bentConnector3">
            <a:avLst>
              <a:gd fmla="val 49995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" name="Google Shape;173;p18"/>
          <p:cNvSpPr/>
          <p:nvPr/>
        </p:nvSpPr>
        <p:spPr>
          <a:xfrm>
            <a:off x="2332422" y="2350551"/>
            <a:ext cx="1538100" cy="442500"/>
          </a:xfrm>
          <a:prstGeom prst="roundRect">
            <a:avLst>
              <a:gd fmla="val 50000" name="adj"/>
            </a:avLst>
          </a:prstGeom>
          <a:solidFill>
            <a:srgbClr val="0D5C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Lifecycle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4016522" y="2350551"/>
            <a:ext cx="1538100" cy="442500"/>
          </a:xfrm>
          <a:prstGeom prst="roundRect">
            <a:avLst>
              <a:gd fmla="val 50000" name="adj"/>
            </a:avLst>
          </a:prstGeom>
          <a:solidFill>
            <a:srgbClr val="0D5C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Benefits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175" name="Google Shape;175;p18"/>
          <p:cNvCxnSpPr>
            <a:stCxn id="173" idx="0"/>
          </p:cNvCxnSpPr>
          <p:nvPr/>
        </p:nvCxnSpPr>
        <p:spPr>
          <a:xfrm rot="10800000">
            <a:off x="3098772" y="2117451"/>
            <a:ext cx="2700" cy="23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" name="Google Shape;176;p18"/>
          <p:cNvCxnSpPr/>
          <p:nvPr/>
        </p:nvCxnSpPr>
        <p:spPr>
          <a:xfrm flipH="1">
            <a:off x="4573700" y="2120500"/>
            <a:ext cx="2400" cy="23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18"/>
          <p:cNvCxnSpPr/>
          <p:nvPr/>
        </p:nvCxnSpPr>
        <p:spPr>
          <a:xfrm flipH="1" rot="10800000">
            <a:off x="4578500" y="2111450"/>
            <a:ext cx="2060100" cy="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18"/>
          <p:cNvCxnSpPr/>
          <p:nvPr/>
        </p:nvCxnSpPr>
        <p:spPr>
          <a:xfrm>
            <a:off x="6636750" y="2112225"/>
            <a:ext cx="3000" cy="23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" name="Google Shape;179;p18"/>
          <p:cNvSpPr/>
          <p:nvPr/>
        </p:nvSpPr>
        <p:spPr>
          <a:xfrm>
            <a:off x="994675" y="3657600"/>
            <a:ext cx="845400" cy="442500"/>
          </a:xfrm>
          <a:prstGeom prst="roundRect">
            <a:avLst>
              <a:gd fmla="val 50000" name="adj"/>
            </a:avLst>
          </a:prstGeom>
          <a:solidFill>
            <a:srgbClr val="307A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Docker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994675" y="4277875"/>
            <a:ext cx="845400" cy="442500"/>
          </a:xfrm>
          <a:prstGeom prst="roundRect">
            <a:avLst>
              <a:gd fmla="val 50000" name="adj"/>
            </a:avLst>
          </a:prstGeom>
          <a:solidFill>
            <a:srgbClr val="307A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Jenkins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2408368" y="3657603"/>
            <a:ext cx="1538100" cy="442500"/>
          </a:xfrm>
          <a:prstGeom prst="roundRect">
            <a:avLst>
              <a:gd fmla="val 50000" name="adj"/>
            </a:avLst>
          </a:prstGeom>
          <a:solidFill>
            <a:srgbClr val="307A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Test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2408368" y="4277878"/>
            <a:ext cx="1538100" cy="442500"/>
          </a:xfrm>
          <a:prstGeom prst="roundRect">
            <a:avLst>
              <a:gd fmla="val 50000" name="adj"/>
            </a:avLst>
          </a:prstGeom>
          <a:solidFill>
            <a:srgbClr val="307A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Deploy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4128500" y="3657603"/>
            <a:ext cx="1538100" cy="442500"/>
          </a:xfrm>
          <a:prstGeom prst="roundRect">
            <a:avLst>
              <a:gd fmla="val 50000" name="adj"/>
            </a:avLst>
          </a:prstGeom>
          <a:solidFill>
            <a:srgbClr val="307A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Reliability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4158750" y="4288753"/>
            <a:ext cx="1538100" cy="442500"/>
          </a:xfrm>
          <a:prstGeom prst="roundRect">
            <a:avLst>
              <a:gd fmla="val 50000" name="adj"/>
            </a:avLst>
          </a:prstGeom>
          <a:solidFill>
            <a:srgbClr val="307A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Automation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185" name="Google Shape;185;p18"/>
          <p:cNvCxnSpPr>
            <a:stCxn id="168" idx="2"/>
            <a:endCxn id="169" idx="0"/>
          </p:cNvCxnSpPr>
          <p:nvPr/>
        </p:nvCxnSpPr>
        <p:spPr>
          <a:xfrm>
            <a:off x="1417372" y="2793001"/>
            <a:ext cx="0" cy="24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" name="Google Shape;186;p18"/>
          <p:cNvCxnSpPr>
            <a:stCxn id="169" idx="2"/>
            <a:endCxn id="179" idx="0"/>
          </p:cNvCxnSpPr>
          <p:nvPr/>
        </p:nvCxnSpPr>
        <p:spPr>
          <a:xfrm>
            <a:off x="1417375" y="3479825"/>
            <a:ext cx="0" cy="17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" name="Google Shape;187;p18"/>
          <p:cNvCxnSpPr>
            <a:stCxn id="179" idx="2"/>
            <a:endCxn id="180" idx="0"/>
          </p:cNvCxnSpPr>
          <p:nvPr/>
        </p:nvCxnSpPr>
        <p:spPr>
          <a:xfrm>
            <a:off x="1417375" y="4100100"/>
            <a:ext cx="0" cy="17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" name="Google Shape;188;p18"/>
          <p:cNvCxnSpPr>
            <a:stCxn id="173" idx="2"/>
          </p:cNvCxnSpPr>
          <p:nvPr/>
        </p:nvCxnSpPr>
        <p:spPr>
          <a:xfrm>
            <a:off x="3101472" y="2793051"/>
            <a:ext cx="3000" cy="23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" name="Google Shape;189;p18"/>
          <p:cNvCxnSpPr/>
          <p:nvPr/>
        </p:nvCxnSpPr>
        <p:spPr>
          <a:xfrm>
            <a:off x="3102518" y="3482465"/>
            <a:ext cx="900" cy="17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0" name="Google Shape;190;p18"/>
          <p:cNvCxnSpPr/>
          <p:nvPr/>
        </p:nvCxnSpPr>
        <p:spPr>
          <a:xfrm>
            <a:off x="3099668" y="4102790"/>
            <a:ext cx="900" cy="17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" name="Google Shape;191;p18"/>
          <p:cNvCxnSpPr/>
          <p:nvPr/>
        </p:nvCxnSpPr>
        <p:spPr>
          <a:xfrm>
            <a:off x="4788572" y="2800051"/>
            <a:ext cx="3000" cy="23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" name="Google Shape;192;p18"/>
          <p:cNvCxnSpPr/>
          <p:nvPr/>
        </p:nvCxnSpPr>
        <p:spPr>
          <a:xfrm>
            <a:off x="4815447" y="3453676"/>
            <a:ext cx="3000" cy="23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3" name="Google Shape;193;p18"/>
          <p:cNvCxnSpPr/>
          <p:nvPr/>
        </p:nvCxnSpPr>
        <p:spPr>
          <a:xfrm>
            <a:off x="4815447" y="4102801"/>
            <a:ext cx="3000" cy="23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9"/>
          <p:cNvSpPr txBox="1"/>
          <p:nvPr/>
        </p:nvSpPr>
        <p:spPr>
          <a:xfrm>
            <a:off x="3115650" y="2028225"/>
            <a:ext cx="2912700" cy="18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FFFF"/>
                </a:solidFill>
                <a:latin typeface="Pacifico"/>
                <a:ea typeface="Pacifico"/>
                <a:cs typeface="Pacifico"/>
                <a:sym typeface="Pacifico"/>
              </a:rPr>
              <a:t>THANK YOU</a:t>
            </a:r>
            <a:endParaRPr sz="3000">
              <a:solidFill>
                <a:srgbClr val="00FFFF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</p:spTree>
  </p:cSld>
  <p:clrMapOvr>
    <a:masterClrMapping/>
  </p:clrMapOvr>
  <mc:AlternateContent>
    <mc:Choice Requires="p14">
      <p:transition spd="med">
        <p14:gallery dir="l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